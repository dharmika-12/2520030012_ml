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Insert screenshot: rating distribution graph / sentiment distribution graph (from notebook).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Insert screenshot: confusion matrix (from notebook) if you want to replace the illustrated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Insert screenshot: model comparison bar graph (from notebook)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0A09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160520" cy="457200"/>
          </a:xfrm>
          <a:prstGeom prst="roundRect">
            <a:avLst>
              <a:gd name="adj" fmla="val 50000"/>
            </a:avLst>
          </a:prstGeom>
          <a:solidFill>
            <a:srgbClr val="241F5E">
              <a:alpha val="75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0292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· MACHINE LEARNING PROJECT · A.Y. 2026–27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694944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Review
</a:t>
            </a:r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9F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 </a:t>
            </a:r>
            <a:pPr algn="l" indent="0" marL="0">
              <a:lnSpc>
                <a:spcPct val="105000"/>
              </a:lnSpc>
              <a:buNone/>
            </a:pPr>
            <a:endParaRPr lang="en-US" sz="4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NLP and BERT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21792" y="379476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customer opinions on Amazon product reviews as Positive or Negative using a fine-tuned Bidirectional Encoder Representations from Transformers (BERT) model.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" y="480060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5001768"/>
            <a:ext cx="457200" cy="457200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5001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44752" y="4892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Dharmika 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44752" y="51937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2520030012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67912" y="480060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96512" y="5001768"/>
            <a:ext cx="457200" cy="457200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96512" y="5001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90872" y="4892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Parinitha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90872" y="51937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2520030562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" y="5806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 </a:t>
            </a:r>
            <a:pPr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Jyothsna Datti</a:t>
            </a:r>
            <a:pPr indent="0" marL="0">
              <a:buNone/>
            </a:pPr>
            <a:r>
              <a:rPr lang="en-US" sz="12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Assistant Professor, CSE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614476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  ·  Department of CSE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778240" y="2377440"/>
            <a:ext cx="1737360" cy="1737360"/>
          </a:xfrm>
          <a:prstGeom prst="ellipse">
            <a:avLst/>
          </a:prstGeom>
          <a:ln w="12700">
            <a:solidFill>
              <a:srgbClr val="8C6BFF"/>
            </a:solidFill>
            <a:prstDash val="sysDot"/>
          </a:ln>
        </p:spPr>
      </p:sp>
      <p:sp>
        <p:nvSpPr>
          <p:cNvPr id="19" name="Shape 17"/>
          <p:cNvSpPr/>
          <p:nvPr/>
        </p:nvSpPr>
        <p:spPr>
          <a:xfrm>
            <a:off x="8503920" y="2103120"/>
            <a:ext cx="2286000" cy="2286000"/>
          </a:xfrm>
          <a:prstGeom prst="ellipse">
            <a:avLst/>
          </a:prstGeom>
          <a:ln w="12700">
            <a:solidFill>
              <a:srgbClr val="8C6BFF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9029700" y="2628900"/>
            <a:ext cx="1234440" cy="1234440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29700" y="262890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64624" y="2020824"/>
            <a:ext cx="164592" cy="164592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552176" y="2596896"/>
            <a:ext cx="164592" cy="164592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52176" y="3730752"/>
            <a:ext cx="164592" cy="164592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25" name="Shape 23"/>
          <p:cNvSpPr/>
          <p:nvPr/>
        </p:nvSpPr>
        <p:spPr>
          <a:xfrm>
            <a:off x="9564624" y="4306824"/>
            <a:ext cx="164592" cy="164592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26" name="Shape 24"/>
          <p:cNvSpPr/>
          <p:nvPr/>
        </p:nvSpPr>
        <p:spPr>
          <a:xfrm>
            <a:off x="8577072" y="3730752"/>
            <a:ext cx="164592" cy="164592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27" name="Shape 25"/>
          <p:cNvSpPr/>
          <p:nvPr/>
        </p:nvSpPr>
        <p:spPr>
          <a:xfrm>
            <a:off x="8577072" y="2596896"/>
            <a:ext cx="164592" cy="164592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28" name="Shape 26"/>
          <p:cNvSpPr/>
          <p:nvPr/>
        </p:nvSpPr>
        <p:spPr>
          <a:xfrm>
            <a:off x="7818120" y="123444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818120" y="12344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“Great”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818120" y="173736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818120" y="17373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“battery”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18120" y="22402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818120" y="22402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“life!”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44000" y="489204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B3B2E">
              <a:alpha val="95000"/>
            </a:srgbClr>
          </a:solidFill>
          <a:ln w="12700">
            <a:solidFill>
              <a:srgbClr val="3ED59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144000" y="4892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Positive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SENTIMENT ANALYSIS  ·  NLP &amp; BERT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21208"/>
            <a:ext cx="146304" cy="146304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297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algn="l" indent="0" marL="0">
              <a:buNone/>
            </a:pPr>
            <a:r>
              <a:rPr lang="en-US" sz="1250" b="1" spc="300" kern="0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Customer Sentiment</a:t>
            </a:r>
            <a:endParaRPr lang="en-US" sz="3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Scale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21488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product reviews contain valuable customer opinions, but manually analyzing thousands of them is time-consuming. NLP can automatically analyze review text, and sentiment analysis classifies each review by opinion. Flow: Review → NLP Processing → Sentiment Model → Positive / Negative.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4160520"/>
            <a:ext cx="5989320" cy="2011680"/>
          </a:xfrm>
          <a:prstGeom prst="roundRect">
            <a:avLst>
              <a:gd name="adj" fmla="val 6364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4370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BERT, NOT TRADITIONAL NLP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681728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models score reviews by counting individual words. BERT instead reads the full sentence in both directions at once, capturing negation, sarcasm and context — e.g. distinguishing “not good” from “good” — for far more reliable sentiment predictions.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03720" y="777240"/>
            <a:ext cx="4709160" cy="1298448"/>
          </a:xfrm>
          <a:prstGeom prst="roundRect">
            <a:avLst>
              <a:gd name="adj" fmla="val 9859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205472" y="1124712"/>
            <a:ext cx="603504" cy="60350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05472" y="112471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55280" y="94183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955280" y="12801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Positive / Negative classification of product reviews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03720" y="2258568"/>
            <a:ext cx="4709160" cy="1298448"/>
          </a:xfrm>
          <a:prstGeom prst="roundRect">
            <a:avLst>
              <a:gd name="adj" fmla="val 9859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05472" y="2606040"/>
            <a:ext cx="603504" cy="60350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5472" y="26060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955280" y="242316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955280" y="2761488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Reviews — real customer text + ratings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3739896"/>
            <a:ext cx="4709160" cy="1298448"/>
          </a:xfrm>
          <a:prstGeom prst="roundRect">
            <a:avLst>
              <a:gd name="adj" fmla="val 9859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05472" y="4087368"/>
            <a:ext cx="603504" cy="60350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5472" y="408736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955280" y="390448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955280" y="4242816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BERT, with TF-IDF + Logistic Regression as a traditional baseline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03720" y="5221224"/>
            <a:ext cx="4709160" cy="1298448"/>
          </a:xfrm>
          <a:prstGeom prst="roundRect">
            <a:avLst>
              <a:gd name="adj" fmla="val 9859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05472" y="5568696"/>
            <a:ext cx="603504" cy="60350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5472" y="5568696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955280" y="538581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955280" y="5724144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F1-Score, Confusion Matrix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SENTIMENT ANALYSIS  ·  NLP &amp; BERT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21208"/>
            <a:ext cx="146304" cy="146304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297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algn="l" indent="0" marL="0">
              <a:buNone/>
            </a:pPr>
            <a:r>
              <a:rPr lang="en-US" sz="1250" b="1" spc="300" kern="0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from the Data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28216"/>
            <a:ext cx="512064" cy="51206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282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98448" y="1691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Rating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98448" y="198424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5 is the dominant rating in the dataset.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807208"/>
            <a:ext cx="512064" cy="51206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072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8448" y="27706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98448" y="30632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 (4,448) greatly outnumber negative reviews (466) — the dataset is highly imbalanced.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512064" cy="51206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86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8448" y="384962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98448" y="414223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review text was removed before modeling, leaving 4,914 usable reviews.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965192"/>
            <a:ext cx="512064" cy="51206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965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492861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298448" y="522122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affects negative-class performance, especially precision and recall.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78040" y="1691640"/>
            <a:ext cx="4434840" cy="4434840"/>
          </a:xfrm>
          <a:prstGeom prst="roundRect">
            <a:avLst>
              <a:gd name="adj" fmla="val 3299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0" y="1901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REVIEW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98080" y="2286000"/>
            <a:ext cx="3794760" cy="548640"/>
          </a:xfrm>
          <a:prstGeom prst="roundRect">
            <a:avLst>
              <a:gd name="adj" fmla="val 50000"/>
            </a:avLst>
          </a:prstGeom>
          <a:solidFill>
            <a:srgbClr val="1E1A4A">
              <a:alpha val="95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98080" y="228600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battery is not good at all.”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98080" y="3200400"/>
            <a:ext cx="3794760" cy="1234440"/>
          </a:xfrm>
          <a:prstGeom prst="roundRect">
            <a:avLst>
              <a:gd name="adj" fmla="val 8889"/>
            </a:avLst>
          </a:prstGeom>
          <a:solidFill>
            <a:srgbClr val="3A2440">
              <a:alpha val="85000"/>
            </a:srgbClr>
          </a:solidFill>
          <a:ln w="12700">
            <a:solidFill>
              <a:srgbClr val="FF5C7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26680" y="33101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(word-count) NLP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26680" y="360273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“good” as a positive keyword and misses the negation → risks a wrong label.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26680" y="4114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Negative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98080" y="4617720"/>
            <a:ext cx="3794760" cy="1280160"/>
          </a:xfrm>
          <a:prstGeom prst="roundRect">
            <a:avLst>
              <a:gd name="adj" fmla="val 8571"/>
            </a:avLst>
          </a:prstGeom>
          <a:solidFill>
            <a:srgbClr val="1B3B2E">
              <a:alpha val="90000"/>
            </a:srgbClr>
          </a:solidFill>
          <a:ln w="12700">
            <a:solidFill>
              <a:srgbClr val="3ED59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26680" y="47274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(contextual) NLP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26680" y="502005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C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full sentence bidirectionally, correctly weighs “not” against “good”.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26680" y="5532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Negative (correct)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SENTIMENT ANALYSIS  ·  NLP &amp; BERT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21208"/>
            <a:ext cx="146304" cy="146304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297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algn="l" indent="0" marL="0">
              <a:buNone/>
            </a:pPr>
            <a:r>
              <a:rPr lang="en-US" sz="1250" b="1" spc="300" kern="0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Works Underpinning This Project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papers form the foundation of this project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2331720" cy="502920"/>
          </a:xfrm>
          <a:prstGeom prst="rect">
            <a:avLst/>
          </a:prstGeom>
          <a:solidFill>
            <a:srgbClr val="15123A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Author(s) &amp; Year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26080" y="1920240"/>
            <a:ext cx="3429000" cy="502920"/>
          </a:xfrm>
          <a:prstGeom prst="rect">
            <a:avLst/>
          </a:prstGeom>
          <a:solidFill>
            <a:srgbClr val="15123A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19202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920240"/>
            <a:ext cx="2788920" cy="502920"/>
          </a:xfrm>
          <a:prstGeom prst="rect">
            <a:avLst/>
          </a:prstGeom>
          <a:solidFill>
            <a:srgbClr val="15123A">
              <a:alpha val="9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20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0" y="1920240"/>
            <a:ext cx="2606040" cy="502920"/>
          </a:xfrm>
          <a:prstGeom prst="rect">
            <a:avLst/>
          </a:prstGeom>
          <a:solidFill>
            <a:srgbClr val="15123A">
              <a:alpha val="9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281160" y="19202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2423160"/>
            <a:ext cx="2331720" cy="786384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423160"/>
            <a:ext cx="2057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 (2017)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2423160"/>
            <a:ext cx="3429000" cy="786384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2423160"/>
            <a:ext cx="3154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355080" y="2423160"/>
            <a:ext cx="2788920" cy="786384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423160"/>
            <a:ext cx="2514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the Transformer architecture.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144000" y="2423160"/>
            <a:ext cx="2606040" cy="786384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1160" y="2423160"/>
            <a:ext cx="2331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94360" y="3209544"/>
            <a:ext cx="2331720" cy="786384"/>
          </a:xfrm>
          <a:prstGeom prst="rect">
            <a:avLst/>
          </a:prstGeom>
          <a:solidFill>
            <a:srgbClr val="17143E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209544"/>
            <a:ext cx="2057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Devlin et al. (2019)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26080" y="3209544"/>
            <a:ext cx="3429000" cy="786384"/>
          </a:xfrm>
          <a:prstGeom prst="rect">
            <a:avLst/>
          </a:prstGeom>
          <a:solidFill>
            <a:srgbClr val="17143E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3209544"/>
            <a:ext cx="3154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BERT: Pre-training of Deep Bidirectional Transformers for Language Understanding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355080" y="3209544"/>
            <a:ext cx="2788920" cy="786384"/>
          </a:xfrm>
          <a:prstGeom prst="rect">
            <a:avLst/>
          </a:prstGeom>
          <a:solidFill>
            <a:srgbClr val="17143E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209544"/>
            <a:ext cx="2514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BERT and bidirectional contextual language representations.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9144000" y="3209544"/>
            <a:ext cx="2606040" cy="786384"/>
          </a:xfrm>
          <a:prstGeom prst="rect">
            <a:avLst/>
          </a:prstGeom>
          <a:solidFill>
            <a:srgbClr val="17143E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81160" y="3209544"/>
            <a:ext cx="2331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NAACL-HLT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94360" y="3995928"/>
            <a:ext cx="2331720" cy="786384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995928"/>
            <a:ext cx="2057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et al. (2019)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926080" y="3995928"/>
            <a:ext cx="3429000" cy="786384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63240" y="3995928"/>
            <a:ext cx="3154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Post-Training for Review Reading Comprehension and Aspect-based Sentiment Analysis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355080" y="3995928"/>
            <a:ext cx="2788920" cy="786384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995928"/>
            <a:ext cx="2514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BERT-based methods to review analysis and sentiment-related tasks.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9144000" y="3995928"/>
            <a:ext cx="2606040" cy="786384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81160" y="3995928"/>
            <a:ext cx="2331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NAACL-HLT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59436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Traditional text features such as TF-IDF represent word importance, while BERT captures contextual relationships between words.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SENTIMENT ANALYSIS  ·  NLP &amp; BERT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21208"/>
            <a:ext cx="146304" cy="146304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297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algn="l" indent="0" marL="0">
              <a:buNone/>
            </a:pPr>
            <a:r>
              <a:rPr lang="en-US" sz="1250" b="1" spc="300" kern="0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the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5212080" cy="2377440"/>
          </a:xfrm>
          <a:prstGeom prst="roundRect">
            <a:avLst>
              <a:gd name="adj" fmla="val 6154"/>
            </a:avLst>
          </a:prstGeom>
          <a:solidFill>
            <a:srgbClr val="1C1848">
              <a:alpha val="9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526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 NLP-based system that automatically classifies Amazon product reviews into positive and negative sentiments and evaluates the effectiveness of BERT against a traditional machine-learning baseline.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5212080" cy="2011680"/>
          </a:xfrm>
          <a:prstGeom prst="roundRect">
            <a:avLst>
              <a:gd name="adj" fmla="val 7273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4370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68172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Binary sentiment classes: Positive &amp; Negative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509320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Trained and tested on Amazon product reviews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550468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Fine-tuned pre-trained BERT, not built from scratch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828800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28816" y="1975104"/>
            <a:ext cx="512064" cy="51206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19751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23760" y="19202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23760" y="221284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Amazon reviews, convert ratings into sentiment labels, and prepare review text for NLP.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761488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28816" y="2907792"/>
            <a:ext cx="512064" cy="51206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8816" y="2907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285292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Baseline Model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23760" y="314553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TF-IDF + Logistic Regression baseline.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3694176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28816" y="3840480"/>
            <a:ext cx="512064" cy="51206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8816" y="38404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378561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BERT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23760" y="407822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BERT for sentiment classification.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4626864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28816" y="4773168"/>
            <a:ext cx="512064" cy="51206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28816" y="47731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23760" y="471830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Rigorously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23760" y="50109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using Accuracy, Precision, Recall and F1-score.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5559552"/>
            <a:ext cx="5349240" cy="804672"/>
          </a:xfrm>
          <a:prstGeom prst="roundRect">
            <a:avLst>
              <a:gd name="adj" fmla="val 13636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28816" y="5705856"/>
            <a:ext cx="512064" cy="512064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28816" y="57058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23760" y="565099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New Reviews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23760" y="59436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sentiment for new, unseen reviews.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SENTIMENT ANALYSIS  ·  NLP &amp; BERT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21208"/>
            <a:ext cx="146304" cy="146304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297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pPr algn="l" indent="0" marL="0">
              <a:buNone/>
            </a:pPr>
            <a:r>
              <a:rPr lang="en-US" sz="1250" b="1" spc="300" kern="0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Reviews to a Trained Model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SUMMARY — 12 ATTRIBUTES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3429000" cy="457200"/>
          </a:xfrm>
          <a:prstGeom prst="rect">
            <a:avLst/>
          </a:prstGeom>
          <a:solidFill>
            <a:srgbClr val="15123A">
              <a:alpha val="9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8745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23360" y="1874520"/>
            <a:ext cx="868680" cy="457200"/>
          </a:xfrm>
          <a:prstGeom prst="rect">
            <a:avLst/>
          </a:prstGeom>
          <a:solidFill>
            <a:srgbClr val="15123A">
              <a:alpha val="9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33088" y="187452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874520"/>
            <a:ext cx="1371600" cy="457200"/>
          </a:xfrm>
          <a:prstGeom prst="rect">
            <a:avLst/>
          </a:prstGeom>
          <a:solidFill>
            <a:srgbClr val="15123A">
              <a:alpha val="9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331720"/>
            <a:ext cx="3429000" cy="457200"/>
          </a:xfrm>
          <a:prstGeom prst="rect">
            <a:avLst/>
          </a:prstGeom>
          <a:solidFill>
            <a:srgbClr val="17143E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3317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0" y="2331720"/>
            <a:ext cx="868680" cy="457200"/>
          </a:xfrm>
          <a:prstGeom prst="rect">
            <a:avLst/>
          </a:prstGeom>
          <a:solidFill>
            <a:srgbClr val="17143E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233172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4,448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2331720"/>
            <a:ext cx="1371600" cy="457200"/>
          </a:xfrm>
          <a:prstGeom prst="rect">
            <a:avLst/>
          </a:prstGeom>
          <a:solidFill>
            <a:srgbClr val="17143E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2331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2788920"/>
            <a:ext cx="3429000" cy="457200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27889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23360" y="2788920"/>
            <a:ext cx="868680" cy="457200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33088" y="278892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788920"/>
            <a:ext cx="1371600" cy="457200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27889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3246120"/>
            <a:ext cx="3429000" cy="457200"/>
          </a:xfrm>
          <a:prstGeom prst="rect">
            <a:avLst/>
          </a:prstGeom>
          <a:solidFill>
            <a:srgbClr val="17143E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32461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reviews (after cleaning)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23360" y="3246120"/>
            <a:ext cx="868680" cy="457200"/>
          </a:xfrm>
          <a:prstGeom prst="rect">
            <a:avLst/>
          </a:prstGeom>
          <a:solidFill>
            <a:srgbClr val="17143E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33088" y="324612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4,914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3246120"/>
            <a:ext cx="1371600" cy="457200"/>
          </a:xfrm>
          <a:prstGeom prst="rect">
            <a:avLst/>
          </a:prstGeom>
          <a:solidFill>
            <a:srgbClr val="17143E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1768" y="3246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" y="3703320"/>
            <a:ext cx="3429000" cy="457200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37033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reviews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023360" y="3703320"/>
            <a:ext cx="868680" cy="457200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33088" y="370332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4,915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3703320"/>
            <a:ext cx="1371600" cy="457200"/>
          </a:xfrm>
          <a:prstGeom prst="rect">
            <a:avLst/>
          </a:prstGeom>
          <a:solidFill>
            <a:srgbClr val="1C1948">
              <a:alpha val="85000"/>
            </a:srgbClr>
          </a:solidFill>
          <a:ln w="9525">
            <a:solidFill>
              <a:srgbClr val="2E2A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01768" y="3703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ATTRIBUTES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" y="4498848"/>
            <a:ext cx="1060704" cy="365760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9525">
            <a:solidFill>
              <a:srgbClr val="463F9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498848"/>
            <a:ext cx="1060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reviewText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783080" y="4498848"/>
            <a:ext cx="1865376" cy="365760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9525">
            <a:solidFill>
              <a:srgbClr val="463F9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83080" y="4498848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4360" y="4992624"/>
            <a:ext cx="2187245" cy="365760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9525">
            <a:solidFill>
              <a:srgbClr val="463F9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992624"/>
            <a:ext cx="21872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909621" y="4992624"/>
            <a:ext cx="1382573" cy="365760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9525">
            <a:solidFill>
              <a:srgbClr val="463F9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09621" y="4992624"/>
            <a:ext cx="138257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reviewerID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420210" y="4992624"/>
            <a:ext cx="1221638" cy="365760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9525">
            <a:solidFill>
              <a:srgbClr val="463F9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20210" y="4992624"/>
            <a:ext cx="12216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94360" y="5486400"/>
            <a:ext cx="2026310" cy="365760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9525">
            <a:solidFill>
              <a:srgbClr val="463F9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5486400"/>
            <a:ext cx="20263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helpful_yes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8686" y="54864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9525">
            <a:solidFill>
              <a:srgbClr val="463F9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8686" y="5486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total_vote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339742" y="5486400"/>
            <a:ext cx="1141171" cy="365760"/>
          </a:xfrm>
          <a:prstGeom prst="roundRect">
            <a:avLst>
              <a:gd name="adj" fmla="val 50000"/>
            </a:avLst>
          </a:prstGeom>
          <a:solidFill>
            <a:srgbClr val="241F5E">
              <a:alpha val="90000"/>
            </a:srgbClr>
          </a:solidFill>
          <a:ln w="9525">
            <a:solidFill>
              <a:srgbClr val="463F9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39742" y="5486400"/>
            <a:ext cx="11411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1–3★ → Negative · 4–5★ → Positive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53796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903720" y="2194560"/>
            <a:ext cx="0" cy="658368"/>
          </a:xfrm>
          <a:prstGeom prst="line">
            <a:avLst/>
          </a:prstGeom>
          <a:noFill/>
          <a:ln w="19050">
            <a:solidFill>
              <a:srgbClr val="8C6BFF"/>
            </a:solidFill>
            <a:prstDash val="sysDot"/>
          </a:ln>
        </p:spPr>
      </p:sp>
      <p:sp>
        <p:nvSpPr>
          <p:cNvPr id="55" name="Shape 53"/>
          <p:cNvSpPr/>
          <p:nvPr/>
        </p:nvSpPr>
        <p:spPr>
          <a:xfrm>
            <a:off x="6711696" y="1856232"/>
            <a:ext cx="384048" cy="384048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11696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315200" y="188366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Amazon review data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903720" y="2852928"/>
            <a:ext cx="0" cy="658368"/>
          </a:xfrm>
          <a:prstGeom prst="line">
            <a:avLst/>
          </a:prstGeom>
          <a:noFill/>
          <a:ln w="19050">
            <a:solidFill>
              <a:srgbClr val="8C6BFF"/>
            </a:solidFill>
            <a:prstDash val="sysDot"/>
          </a:ln>
        </p:spPr>
      </p:sp>
      <p:sp>
        <p:nvSpPr>
          <p:cNvPr id="59" name="Shape 57"/>
          <p:cNvSpPr/>
          <p:nvPr/>
        </p:nvSpPr>
        <p:spPr>
          <a:xfrm>
            <a:off x="6711696" y="2514600"/>
            <a:ext cx="384048" cy="384048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11696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315200" y="25420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sentiment from ratings (1–3 → Negative, 4–5 → Positive)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903720" y="3511296"/>
            <a:ext cx="0" cy="658368"/>
          </a:xfrm>
          <a:prstGeom prst="line">
            <a:avLst/>
          </a:prstGeom>
          <a:noFill/>
          <a:ln w="19050">
            <a:solidFill>
              <a:srgbClr val="8C6BFF"/>
            </a:solidFill>
            <a:prstDash val="sysDot"/>
          </a:ln>
        </p:spPr>
      </p:sp>
      <p:sp>
        <p:nvSpPr>
          <p:cNvPr id="63" name="Shape 61"/>
          <p:cNvSpPr/>
          <p:nvPr/>
        </p:nvSpPr>
        <p:spPr>
          <a:xfrm>
            <a:off x="6711696" y="3172968"/>
            <a:ext cx="384048" cy="384048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11696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315200" y="32004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training (3,931), validation (491) and testing (492) sets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6903720" y="4169664"/>
            <a:ext cx="0" cy="658368"/>
          </a:xfrm>
          <a:prstGeom prst="line">
            <a:avLst/>
          </a:prstGeom>
          <a:noFill/>
          <a:ln w="19050">
            <a:solidFill>
              <a:srgbClr val="8C6BFF"/>
            </a:solidFill>
            <a:prstDash val="sysDot"/>
          </a:ln>
        </p:spPr>
      </p:sp>
      <p:sp>
        <p:nvSpPr>
          <p:cNvPr id="67" name="Shape 65"/>
          <p:cNvSpPr/>
          <p:nvPr/>
        </p:nvSpPr>
        <p:spPr>
          <a:xfrm>
            <a:off x="6711696" y="3831336"/>
            <a:ext cx="384048" cy="384048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11696" y="3831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315200" y="38587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TF-IDF + Logistic Regression baseline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6903720" y="4828032"/>
            <a:ext cx="0" cy="658368"/>
          </a:xfrm>
          <a:prstGeom prst="line">
            <a:avLst/>
          </a:prstGeom>
          <a:noFill/>
          <a:ln w="19050">
            <a:solidFill>
              <a:srgbClr val="8C6BFF"/>
            </a:solidFill>
            <a:prstDash val="sysDot"/>
          </a:ln>
        </p:spPr>
      </p:sp>
      <p:sp>
        <p:nvSpPr>
          <p:cNvPr id="71" name="Shape 69"/>
          <p:cNvSpPr/>
          <p:nvPr/>
        </p:nvSpPr>
        <p:spPr>
          <a:xfrm>
            <a:off x="6711696" y="4489704"/>
            <a:ext cx="384048" cy="384048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11696" y="4489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315200" y="451713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BERT for sentiment classification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6711696" y="5148072"/>
            <a:ext cx="384048" cy="384048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11696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7315200" y="517550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both models &amp; predict sentiment on new reviews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SENTIMENT ANALYSIS  ·  NLP &amp; BERT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33832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pPr algn="l" indent="0" marL="0">
              <a:buNone/>
            </a:pPr>
            <a:r>
              <a:rPr lang="en-US" sz="1250" b="1" spc="300" kern="0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IMPLEMENTATION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Model: bert-base-uncased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1508760" cy="1417320"/>
          </a:xfrm>
          <a:prstGeom prst="roundRect">
            <a:avLst>
              <a:gd name="adj" fmla="val 7742"/>
            </a:avLst>
          </a:prstGeom>
          <a:solidFill>
            <a:srgbClr val="1C1948">
              <a:alpha val="9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0996" y="2112264"/>
            <a:ext cx="475488" cy="475488"/>
          </a:xfrm>
          <a:prstGeom prst="ellipse">
            <a:avLst/>
          </a:prstGeom>
          <a:solidFill>
            <a:srgbClr val="4E86FF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" y="21122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" y="2697480"/>
            <a:ext cx="136245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Text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03120" y="2674620"/>
            <a:ext cx="384048" cy="0"/>
          </a:xfrm>
          <a:prstGeom prst="line">
            <a:avLst/>
          </a:prstGeom>
          <a:noFill/>
          <a:ln w="25400">
            <a:solidFill>
              <a:srgbClr val="9FF3E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87168" y="1965960"/>
            <a:ext cx="1508760" cy="1417320"/>
          </a:xfrm>
          <a:prstGeom prst="roundRect">
            <a:avLst>
              <a:gd name="adj" fmla="val 7742"/>
            </a:avLst>
          </a:prstGeom>
          <a:solidFill>
            <a:srgbClr val="1C1948">
              <a:alpha val="9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03804" y="2112264"/>
            <a:ext cx="475488" cy="475488"/>
          </a:xfrm>
          <a:prstGeom prst="ellipse">
            <a:avLst/>
          </a:prstGeom>
          <a:solidFill>
            <a:srgbClr val="4E86FF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03804" y="21122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0" y="2697480"/>
            <a:ext cx="136245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(clean, normalize)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95928" y="2674620"/>
            <a:ext cx="384048" cy="0"/>
          </a:xfrm>
          <a:prstGeom prst="line">
            <a:avLst/>
          </a:prstGeom>
          <a:noFill/>
          <a:ln w="25400">
            <a:solidFill>
              <a:srgbClr val="9FF3E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79976" y="1965960"/>
            <a:ext cx="1508760" cy="1417320"/>
          </a:xfrm>
          <a:prstGeom prst="roundRect">
            <a:avLst>
              <a:gd name="adj" fmla="val 7742"/>
            </a:avLst>
          </a:prstGeom>
          <a:solidFill>
            <a:srgbClr val="1C1948">
              <a:alpha val="9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6612" y="2112264"/>
            <a:ext cx="475488" cy="475488"/>
          </a:xfrm>
          <a:prstGeom prst="ellipse">
            <a:avLst/>
          </a:prstGeom>
          <a:solidFill>
            <a:srgbClr val="8C6BFF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6612" y="21122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53128" y="2697480"/>
            <a:ext cx="136245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Tokenizer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(WordPiece)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88736" y="2674620"/>
            <a:ext cx="384048" cy="0"/>
          </a:xfrm>
          <a:prstGeom prst="line">
            <a:avLst/>
          </a:prstGeom>
          <a:noFill/>
          <a:ln w="25400">
            <a:solidFill>
              <a:srgbClr val="9FF3E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72784" y="1965960"/>
            <a:ext cx="1508760" cy="1417320"/>
          </a:xfrm>
          <a:prstGeom prst="roundRect">
            <a:avLst>
              <a:gd name="adj" fmla="val 7742"/>
            </a:avLst>
          </a:prstGeom>
          <a:solidFill>
            <a:srgbClr val="1C1948">
              <a:alpha val="9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89420" y="2112264"/>
            <a:ext cx="475488" cy="475488"/>
          </a:xfrm>
          <a:prstGeom prst="ellipse">
            <a:avLst/>
          </a:prstGeom>
          <a:solidFill>
            <a:srgbClr val="8C6BFF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9420" y="21122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45936" y="2697480"/>
            <a:ext cx="136245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Encoder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(fine-tuned)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81544" y="2674620"/>
            <a:ext cx="384048" cy="0"/>
          </a:xfrm>
          <a:prstGeom prst="line">
            <a:avLst/>
          </a:prstGeom>
          <a:noFill/>
          <a:ln w="25400">
            <a:solidFill>
              <a:srgbClr val="9FF3E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65592" y="1965960"/>
            <a:ext cx="1508760" cy="1417320"/>
          </a:xfrm>
          <a:prstGeom prst="roundRect">
            <a:avLst>
              <a:gd name="adj" fmla="val 7742"/>
            </a:avLst>
          </a:prstGeom>
          <a:solidFill>
            <a:srgbClr val="1C1948">
              <a:alpha val="9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2228" y="2112264"/>
            <a:ext cx="475488" cy="475488"/>
          </a:xfrm>
          <a:prstGeom prst="ellipse">
            <a:avLst/>
          </a:prstGeom>
          <a:solidFill>
            <a:srgbClr val="2FE0D6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2228" y="21122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38744" y="2697480"/>
            <a:ext cx="136245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74352" y="2674620"/>
            <a:ext cx="384048" cy="0"/>
          </a:xfrm>
          <a:prstGeom prst="line">
            <a:avLst/>
          </a:prstGeom>
          <a:noFill/>
          <a:ln w="25400">
            <a:solidFill>
              <a:srgbClr val="9FF3E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058400" y="1965960"/>
            <a:ext cx="1508760" cy="1417320"/>
          </a:xfrm>
          <a:prstGeom prst="roundRect">
            <a:avLst>
              <a:gd name="adj" fmla="val 7742"/>
            </a:avLst>
          </a:prstGeom>
          <a:solidFill>
            <a:srgbClr val="1C1948">
              <a:alpha val="9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575036" y="2112264"/>
            <a:ext cx="475488" cy="475488"/>
          </a:xfrm>
          <a:prstGeom prst="ellipse">
            <a:avLst/>
          </a:prstGeom>
          <a:solidFill>
            <a:srgbClr val="3ED598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75036" y="21122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31552" y="2697480"/>
            <a:ext cx="136245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Output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284714" y="3520440"/>
            <a:ext cx="0" cy="0"/>
          </a:xfrm>
          <a:prstGeom prst="line">
            <a:avLst/>
          </a:prstGeom>
          <a:noFill/>
          <a:ln/>
        </p:spPr>
      </p:sp>
      <p:sp>
        <p:nvSpPr>
          <p:cNvPr id="35" name="Shape 33"/>
          <p:cNvSpPr/>
          <p:nvPr/>
        </p:nvSpPr>
        <p:spPr>
          <a:xfrm>
            <a:off x="594360" y="3794760"/>
            <a:ext cx="10972800" cy="1417320"/>
          </a:xfrm>
          <a:prstGeom prst="roundRect">
            <a:avLst>
              <a:gd name="adj" fmla="val 9032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68680" y="39502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4400" y="4480560"/>
            <a:ext cx="457200" cy="457200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463040" y="4526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Seq Len: 128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63240" y="4480560"/>
            <a:ext cx="457200" cy="457200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6324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3611880" y="4526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8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212080" y="4480560"/>
            <a:ext cx="457200" cy="457200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120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760720" y="4526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 2e-5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360920" y="4480560"/>
            <a:ext cx="457200" cy="457200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6092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909560" y="4526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2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509760" y="4480560"/>
            <a:ext cx="457200" cy="457200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50976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0058400" y="4526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Decay: 0.01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080760" y="3383280"/>
            <a:ext cx="0" cy="411480"/>
          </a:xfrm>
          <a:prstGeom prst="line">
            <a:avLst/>
          </a:prstGeom>
          <a:noFill/>
          <a:ln w="25400">
            <a:solidFill>
              <a:srgbClr val="9FF3EC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594360" y="5440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bert-base-uncased is fine-tuned for binary classification (0 = Negative, 1 = Positive): review text is tokenized, encoded, and passed through a classification layer to predict sentiment.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SENTIMENT ANALYSIS  ·  NLP &amp; BERT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21208"/>
            <a:ext cx="146304" cy="146304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297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pPr algn="l" indent="0" marL="0">
              <a:buNone/>
            </a:pPr>
            <a:r>
              <a:rPr lang="en-US" sz="1250" b="1" spc="300" kern="0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 vs TF-IDF + Logistic Regression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2606040" cy="1965960"/>
          </a:xfrm>
          <a:prstGeom prst="roundRect">
            <a:avLst>
              <a:gd name="adj" fmla="val 6512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783080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212140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BERT: 93.90%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" y="2578608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LR: 92.07%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06040" cy="1965960"/>
          </a:xfrm>
          <a:prstGeom prst="roundRect">
            <a:avLst>
              <a:gd name="adj" fmla="val 6512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47872" y="1783080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47872" y="212140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BERT: 95.21%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7872" y="2578608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LR: 97.21%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2606040" cy="1965960"/>
          </a:xfrm>
          <a:prstGeom prst="roundRect">
            <a:avLst>
              <a:gd name="adj" fmla="val 6512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6792" y="1783080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36792" y="212140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BERT: 98.20%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36792" y="2578608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LR: 93.93%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61120" y="1600200"/>
            <a:ext cx="2606040" cy="1965960"/>
          </a:xfrm>
          <a:prstGeom prst="roundRect">
            <a:avLst>
              <a:gd name="adj" fmla="val 6512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25712" y="1783080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25712" y="212140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BERT: 96.68%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25712" y="2578608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LR: 95.54%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38221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(BERT)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426110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7160" y="548640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526280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828800" y="4526280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37160" y="50886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7160" y="586587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51560" y="4828032"/>
            <a:ext cx="722376" cy="722376"/>
          </a:xfrm>
          <a:prstGeom prst="roundRect">
            <a:avLst>
              <a:gd name="adj" fmla="val 8861"/>
            </a:avLst>
          </a:prstGeom>
          <a:solidFill>
            <a:srgbClr val="1B3B2E">
              <a:alpha val="95000"/>
            </a:srgbClr>
          </a:solidFill>
          <a:ln w="13970">
            <a:solidFill>
              <a:srgbClr val="3ED5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4828032"/>
            <a:ext cx="72237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437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28800" y="4828032"/>
            <a:ext cx="722376" cy="722376"/>
          </a:xfrm>
          <a:prstGeom prst="roundRect">
            <a:avLst>
              <a:gd name="adj" fmla="val 8861"/>
            </a:avLst>
          </a:prstGeom>
          <a:solidFill>
            <a:srgbClr val="3A2440">
              <a:alpha val="95000"/>
            </a:srgbClr>
          </a:solidFill>
          <a:ln w="13970">
            <a:solidFill>
              <a:srgbClr val="FF5C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0" y="4828032"/>
            <a:ext cx="72237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51560" y="5605272"/>
            <a:ext cx="722376" cy="722376"/>
          </a:xfrm>
          <a:prstGeom prst="roundRect">
            <a:avLst>
              <a:gd name="adj" fmla="val 8861"/>
            </a:avLst>
          </a:prstGeom>
          <a:solidFill>
            <a:srgbClr val="3A2440">
              <a:alpha val="95000"/>
            </a:srgbClr>
          </a:solidFill>
          <a:ln w="13970">
            <a:solidFill>
              <a:srgbClr val="FF5C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605272"/>
            <a:ext cx="72237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0" y="5605272"/>
            <a:ext cx="722376" cy="722376"/>
          </a:xfrm>
          <a:prstGeom prst="roundRect">
            <a:avLst>
              <a:gd name="adj" fmla="val 8861"/>
            </a:avLst>
          </a:prstGeom>
          <a:solidFill>
            <a:srgbClr val="1B3B2E">
              <a:alpha val="95000"/>
            </a:srgbClr>
          </a:solidFill>
          <a:ln w="13970">
            <a:solidFill>
              <a:srgbClr val="3ED59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0" y="5605272"/>
            <a:ext cx="72237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3ED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37960" y="3822192"/>
            <a:ext cx="5029200" cy="2331720"/>
          </a:xfrm>
          <a:prstGeom prst="roundRect">
            <a:avLst>
              <a:gd name="adj" fmla="val 5490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1228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12280" y="4370832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Most positive reviews were correctly classified.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12280" y="4937760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Negative-class performance is affected by the strong class imbalance.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12280" y="5504688"/>
            <a:ext cx="4480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BERT outperforms the baseline on Accuracy, Recall and F1-Score; the baseline has higher Precision.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SENTIMENT ANALYSIS  ·  NLP &amp; BERT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21208"/>
            <a:ext cx="146304" cy="146304"/>
          </a:xfrm>
          <a:prstGeom prst="ellipse">
            <a:avLst/>
          </a:prstGeom>
          <a:solidFill>
            <a:srgbClr val="2FE0D6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" y="4297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pPr algn="l" indent="0" marL="0">
              <a:buNone/>
            </a:pPr>
            <a:r>
              <a:rPr lang="en-US" sz="1250" b="1" spc="300" kern="0" dirty="0">
                <a:solidFill>
                  <a:srgbClr val="9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Sentiment,</a:t>
            </a:r>
            <a:endParaRPr lang="en-US" sz="3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7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Decisions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214884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developed an NLP-based sentiment classification system for Amazon product reviews. A TF-IDF + Logistic Regression baseline was implemented, and BERT was fine-tuned for contextual sentiment classification; both models were evaluated using standard classification metrics.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3794760"/>
            <a:ext cx="6035040" cy="2331720"/>
          </a:xfrm>
          <a:prstGeom prst="roundRect">
            <a:avLst>
              <a:gd name="adj" fmla="val 6275"/>
            </a:avLst>
          </a:prstGeom>
          <a:solidFill>
            <a:srgbClr val="241F5E">
              <a:alpha val="82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4023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78992" y="4352544"/>
            <a:ext cx="256032" cy="256032"/>
          </a:xfrm>
          <a:prstGeom prst="ellipse">
            <a:avLst/>
          </a:prstGeom>
          <a:solidFill>
            <a:srgbClr val="241F5E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43525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435254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1–5 star sentiment classification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78992" y="4736592"/>
            <a:ext cx="256032" cy="256032"/>
          </a:xfrm>
          <a:prstGeom prst="ellipse">
            <a:avLst/>
          </a:prstGeom>
          <a:solidFill>
            <a:srgbClr val="241F5E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47365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47365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Aspect-based sentiment analysis and sentiment trend analysis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78992" y="5120640"/>
            <a:ext cx="256032" cy="256032"/>
          </a:xfrm>
          <a:prstGeom prst="ellipse">
            <a:avLst/>
          </a:prstGeom>
          <a:solidFill>
            <a:srgbClr val="241F5E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5120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5120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and more balanced datasets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78992" y="5504688"/>
            <a:ext cx="256032" cy="256032"/>
          </a:xfrm>
          <a:prstGeom prst="ellipse">
            <a:avLst/>
          </a:prstGeom>
          <a:solidFill>
            <a:srgbClr val="241F5E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55046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55046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API deployment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23760" y="1691640"/>
            <a:ext cx="4343400" cy="4434840"/>
          </a:xfrm>
          <a:prstGeom prst="roundRect">
            <a:avLst>
              <a:gd name="adj" fmla="val 3789"/>
            </a:avLst>
          </a:prstGeom>
          <a:solidFill>
            <a:srgbClr val="1C1848">
              <a:alpha val="90000"/>
            </a:srgbClr>
          </a:solidFill>
          <a:ln w="12700">
            <a:solidFill>
              <a:srgbClr val="463F9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05672" y="2240280"/>
            <a:ext cx="1188720" cy="1188720"/>
          </a:xfrm>
          <a:prstGeom prst="ellipse">
            <a:avLst/>
          </a:prstGeom>
          <a:solidFill>
            <a:srgbClr val="6C4FE0"/>
          </a:solidFill>
          <a:ln w="15875">
            <a:solidFill>
              <a:srgbClr val="8C6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05672" y="22402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452360" y="36118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43800" y="39776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D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achieved 93.90% accuracy and 96.68% F1-score, outperforming the TF-IDF + Logistic Regression baseline.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452360" y="52120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F3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8B8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SENTIMENT ANALYSIS  ·  NLP &amp; BERT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2026-08-25T06:37:50Z</dcterms:created>
  <dcterms:modified xsi:type="dcterms:W3CDTF">2026-08-25T06:37:50Z</dcterms:modified>
</cp:coreProperties>
</file>